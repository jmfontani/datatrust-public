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embeddedFontLs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n7c1qnd8oST+2QE0busbPLHI3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8cda529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48cda529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48cda529c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8cda529c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48cda52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48cda529c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8cda529c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48cda52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48cda529c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8cda529c_0_1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48cda529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48cda529c_0_1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8cda529c_0_1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48cda529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48cda529c_0_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8cda529c_0_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48cda529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48cda529c_0_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8cda529c_0_812:notes"/>
          <p:cNvSpPr txBox="1"/>
          <p:nvPr>
            <p:ph idx="1" type="body"/>
          </p:nvPr>
        </p:nvSpPr>
        <p:spPr>
          <a:xfrm>
            <a:off x="756000" y="3808890"/>
            <a:ext cx="6047700" cy="36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48cda529c_0_812:notes"/>
          <p:cNvSpPr/>
          <p:nvPr>
            <p:ph idx="2" type="sldImg"/>
          </p:nvPr>
        </p:nvSpPr>
        <p:spPr>
          <a:xfrm>
            <a:off x="1106925" y="609390"/>
            <a:ext cx="5345700" cy="3006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48cda529c_0_845:notes"/>
          <p:cNvSpPr/>
          <p:nvPr>
            <p:ph idx="2" type="sldImg"/>
          </p:nvPr>
        </p:nvSpPr>
        <p:spPr>
          <a:xfrm>
            <a:off x="1371563" y="857250"/>
            <a:ext cx="4114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e48cda529c_0_845:notes"/>
          <p:cNvSpPr txBox="1"/>
          <p:nvPr>
            <p:ph idx="1" type="body"/>
          </p:nvPr>
        </p:nvSpPr>
        <p:spPr>
          <a:xfrm>
            <a:off x="685800" y="3300480"/>
            <a:ext cx="5486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e48cda529c_0_845:notes"/>
          <p:cNvSpPr txBox="1"/>
          <p:nvPr>
            <p:ph idx="12" type="sldNum"/>
          </p:nvPr>
        </p:nvSpPr>
        <p:spPr>
          <a:xfrm>
            <a:off x="3884760" y="6514020"/>
            <a:ext cx="2971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s-E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48cda529c_0_327:notes"/>
          <p:cNvSpPr/>
          <p:nvPr>
            <p:ph idx="2" type="sldImg"/>
          </p:nvPr>
        </p:nvSpPr>
        <p:spPr>
          <a:xfrm>
            <a:off x="1371563" y="857250"/>
            <a:ext cx="4114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e48cda529c_0_327:notes"/>
          <p:cNvSpPr txBox="1"/>
          <p:nvPr>
            <p:ph idx="1" type="body"/>
          </p:nvPr>
        </p:nvSpPr>
        <p:spPr>
          <a:xfrm>
            <a:off x="685800" y="3300480"/>
            <a:ext cx="5486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48cda529c_0_327:notes"/>
          <p:cNvSpPr txBox="1"/>
          <p:nvPr>
            <p:ph idx="12" type="sldNum"/>
          </p:nvPr>
        </p:nvSpPr>
        <p:spPr>
          <a:xfrm>
            <a:off x="3884760" y="6514020"/>
            <a:ext cx="2971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s-E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1" name="Google Shape;391;p12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3457575" y="566738"/>
            <a:ext cx="3779838" cy="2833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48cda529c_0_456:notes"/>
          <p:cNvSpPr/>
          <p:nvPr>
            <p:ph idx="2" type="sldImg"/>
          </p:nvPr>
        </p:nvSpPr>
        <p:spPr>
          <a:xfrm>
            <a:off x="1371563" y="857250"/>
            <a:ext cx="4114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e48cda529c_0_456:notes"/>
          <p:cNvSpPr txBox="1"/>
          <p:nvPr>
            <p:ph idx="1" type="body"/>
          </p:nvPr>
        </p:nvSpPr>
        <p:spPr>
          <a:xfrm>
            <a:off x="685800" y="3300480"/>
            <a:ext cx="5486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48cda529c_0_456:notes"/>
          <p:cNvSpPr txBox="1"/>
          <p:nvPr>
            <p:ph idx="12" type="sldNum"/>
          </p:nvPr>
        </p:nvSpPr>
        <p:spPr>
          <a:xfrm>
            <a:off x="3884760" y="6514020"/>
            <a:ext cx="29715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s-E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08960" y="6377940"/>
            <a:ext cx="292608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77940"/>
            <a:ext cx="21031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6583680" y="6377940"/>
            <a:ext cx="21031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539"/>
          </a:p>
        </p:txBody>
      </p:sp>
      <p:pic>
        <p:nvPicPr>
          <p:cNvPr descr="Icono&#10;&#10;El contenido generado por IA puede ser incorrecto." id="30" name="Google Shape;3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72400" y="6597352"/>
            <a:ext cx="971600" cy="26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8cda529c_0_1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48cda529c_0_1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48cda529c_0_1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Icono&#10;&#10;El contenido generado por IA puede ser incorrecto." id="15" name="Google Shape;1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72400" y="6597352"/>
            <a:ext cx="971600" cy="26064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atos.gob.es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atos.gob.es" TargetMode="External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1419275"/>
            <a:ext cx="9144000" cy="692700"/>
          </a:xfrm>
          <a:prstGeom prst="rect">
            <a:avLst/>
          </a:prstGeom>
          <a:solidFill>
            <a:srgbClr val="00A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PROJECT DESIGN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433100" y="2612563"/>
            <a:ext cx="62778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Máster IA y Ciencia del Dato 25/26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3567100" y="3175188"/>
            <a:ext cx="19269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Grupo 2</a:t>
            </a:r>
            <a:endParaRPr b="1" sz="38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910250" y="4098650"/>
            <a:ext cx="3240600" cy="2337600"/>
          </a:xfrm>
          <a:prstGeom prst="roundRect">
            <a:avLst>
              <a:gd fmla="val 12903" name="adj"/>
            </a:avLst>
          </a:prstGeom>
          <a:solidFill>
            <a:srgbClr val="EAF3FA"/>
          </a:solidFill>
          <a:ln cap="flat" cmpd="sng" w="12700">
            <a:solidFill>
              <a:srgbClr val="D2E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935150" y="4098650"/>
            <a:ext cx="3190800" cy="24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Alejandro Cañas</a:t>
            </a:r>
            <a:b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Jordi Costa</a:t>
            </a:r>
            <a:b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José Mª Fontanillo</a:t>
            </a:r>
            <a:b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Gonzalo García</a:t>
            </a:r>
            <a:b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Daniel Ojeda</a:t>
            </a:r>
            <a:b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Pablo Vera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rojectdesign_pages/page-02.png" id="110" name="Google Shape;110;g3e48cda529c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e48cda529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e48cda529c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e48cda529c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e48cda529c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78975"/>
            <a:ext cx="9193150" cy="259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e48cda529c_0_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00" y="150050"/>
            <a:ext cx="20764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e48cda529c_0_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350" y="4512850"/>
            <a:ext cx="653150" cy="9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rojectdesign_pages/page-07.png" id="142" name="Google Shape;142;g3e48cda529c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e48cda529c_0_162"/>
          <p:cNvSpPr/>
          <p:nvPr/>
        </p:nvSpPr>
        <p:spPr>
          <a:xfrm>
            <a:off x="0" y="3429000"/>
            <a:ext cx="9144000" cy="1644600"/>
          </a:xfrm>
          <a:prstGeom prst="rect">
            <a:avLst/>
          </a:prstGeom>
          <a:solidFill>
            <a:srgbClr val="00A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PROPUESTA SELECCIONADA:</a:t>
            </a:r>
            <a:endParaRPr b="1" sz="27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PROYECTO 1:</a:t>
            </a:r>
            <a:endParaRPr b="1" sz="27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Buscador Semántico de Datasets Públicos</a:t>
            </a:r>
            <a:endParaRPr b="1" sz="27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4" name="Google Shape;144;g3e48cda529c_0_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1" y="0"/>
            <a:ext cx="3429000" cy="342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PROBLEMA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1" name="Google Shape;151;p3"/>
          <p:cNvSpPr/>
          <p:nvPr/>
        </p:nvSpPr>
        <p:spPr>
          <a:xfrm>
            <a:off x="3655260" y="4480560"/>
            <a:ext cx="17763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Necesidad analítica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638490" y="4480560"/>
            <a:ext cx="1707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Recomendación explicada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851700" y="1550625"/>
            <a:ext cx="7440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Los portales de datos abiertos (datos.gob.es) publican miles de datasets pero la búsqueda sigue siendo por palabra clave exacta.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El usuario parte de preguntas complejas en lenguaje natural (ej: "renta, contaminación y salud respiratoria en ciudades españolas"), no de términos administrativos precisos.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</a:rPr>
              <a:t>La búsqueda por palabras clave en portales de datos abiertos es ineficiente para preguntas de análisis</a:t>
            </a:r>
            <a:br>
              <a:rPr lang="es-ES" sz="1800">
                <a:solidFill>
                  <a:schemeClr val="dk1"/>
                </a:solidFill>
              </a:rPr>
            </a:b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Esto genera: </a:t>
            </a:r>
            <a:r>
              <a:rPr b="1" lang="es-ES" sz="1800"/>
              <a:t>búsquedas manuales lentas</a:t>
            </a:r>
            <a:r>
              <a:rPr lang="es-ES" sz="1800"/>
              <a:t> e iterativas; </a:t>
            </a:r>
            <a:r>
              <a:rPr b="1" lang="es-ES" sz="1800"/>
              <a:t>terminología administrativa opaca</a:t>
            </a:r>
            <a:r>
              <a:rPr lang="es-ES" sz="1800"/>
              <a:t>; metadatos </a:t>
            </a:r>
            <a:r>
              <a:rPr b="1" lang="es-ES" sz="1800"/>
              <a:t>heterogéneos</a:t>
            </a:r>
            <a:r>
              <a:rPr lang="es-ES" sz="1800"/>
              <a:t>; alta </a:t>
            </a:r>
            <a:r>
              <a:rPr b="1" lang="es-ES" sz="1800"/>
              <a:t>incertidumbre</a:t>
            </a:r>
            <a:r>
              <a:rPr lang="es-ES" sz="1800"/>
              <a:t> sobre si un dataset sirve para un estudio concreto</a:t>
            </a:r>
            <a:endParaRPr sz="1800"/>
          </a:p>
        </p:txBody>
      </p:sp>
      <p:sp>
        <p:nvSpPr>
          <p:cNvPr id="154" name="Google Shape;154;p3"/>
          <p:cNvSpPr/>
          <p:nvPr/>
        </p:nvSpPr>
        <p:spPr>
          <a:xfrm>
            <a:off x="681200" y="1713800"/>
            <a:ext cx="98700" cy="31569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48cda529c_0_812"/>
          <p:cNvSpPr/>
          <p:nvPr/>
        </p:nvSpPr>
        <p:spPr>
          <a:xfrm>
            <a:off x="0" y="0"/>
            <a:ext cx="9143400" cy="164100"/>
          </a:xfrm>
          <a:prstGeom prst="rect">
            <a:avLst/>
          </a:prstGeom>
          <a:solidFill>
            <a:srgbClr val="8CC63F"/>
          </a:solidFill>
          <a:ln cap="flat" cmpd="sng" w="127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48cda529c_0_812"/>
          <p:cNvSpPr/>
          <p:nvPr/>
        </p:nvSpPr>
        <p:spPr>
          <a:xfrm>
            <a:off x="377190" y="6510600"/>
            <a:ext cx="56232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750" u="none" strike="noStrike">
                <a:solidFill>
                  <a:srgbClr val="7A8794"/>
                </a:solidFill>
                <a:latin typeface="Arial"/>
                <a:ea typeface="Arial"/>
                <a:cs typeface="Arial"/>
                <a:sym typeface="Arial"/>
              </a:rPr>
              <a:t>Propuesta TFM · Buscador semántico de datasets públicos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48cda529c_0_812"/>
          <p:cNvSpPr/>
          <p:nvPr/>
        </p:nvSpPr>
        <p:spPr>
          <a:xfrm>
            <a:off x="8469630" y="6446520"/>
            <a:ext cx="308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e48cda529c_0_812"/>
          <p:cNvSpPr/>
          <p:nvPr/>
        </p:nvSpPr>
        <p:spPr>
          <a:xfrm>
            <a:off x="514350" y="999325"/>
            <a:ext cx="84348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60">
                <a:solidFill>
                  <a:schemeClr val="dk1"/>
                </a:solidFill>
              </a:rPr>
              <a:t>Observamos</a:t>
            </a:r>
            <a:r>
              <a:rPr b="0" lang="es-ES" sz="146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evolución clara: de los catálogos con metadatos y filtros, hacia buscadores semánticos basados en embeddings, ranking híbrido y sistemas RAG/LLM.</a:t>
            </a:r>
            <a:endParaRPr sz="146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6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 así, sigue existiendo una </a:t>
            </a:r>
            <a:r>
              <a:rPr b="1" lang="es-ES" sz="1460" u="none" strike="noStrike">
                <a:solidFill>
                  <a:schemeClr val="dk1"/>
                </a:solidFill>
              </a:rPr>
              <a:t>brecha entre una pregunta de análisis y la recomendación razonada de datasets.</a:t>
            </a:r>
            <a:endParaRPr b="1" sz="1460" u="none" strike="noStrike">
              <a:solidFill>
                <a:srgbClr val="000000"/>
              </a:solidFill>
            </a:endParaRPr>
          </a:p>
        </p:txBody>
      </p:sp>
      <p:sp>
        <p:nvSpPr>
          <p:cNvPr id="163" name="Google Shape;163;g3e48cda529c_0_812"/>
          <p:cNvSpPr/>
          <p:nvPr/>
        </p:nvSpPr>
        <p:spPr>
          <a:xfrm>
            <a:off x="514350" y="1920240"/>
            <a:ext cx="2468700" cy="19656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48cda529c_0_812"/>
          <p:cNvSpPr/>
          <p:nvPr/>
        </p:nvSpPr>
        <p:spPr>
          <a:xfrm>
            <a:off x="665280" y="2084760"/>
            <a:ext cx="21942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 u="none" strike="noStrike">
                <a:solidFill>
                  <a:schemeClr val="dk2"/>
                </a:solidFill>
              </a:rPr>
              <a:t>Hoy ya existe</a:t>
            </a:r>
            <a:endParaRPr b="1" sz="1800" u="none" strike="noStrike">
              <a:solidFill>
                <a:schemeClr val="dk2"/>
              </a:solidFill>
            </a:endParaRPr>
          </a:p>
        </p:txBody>
      </p:sp>
      <p:sp>
        <p:nvSpPr>
          <p:cNvPr id="165" name="Google Shape;165;g3e48cda529c_0_812"/>
          <p:cNvSpPr/>
          <p:nvPr/>
        </p:nvSpPr>
        <p:spPr>
          <a:xfrm>
            <a:off x="665275" y="2450525"/>
            <a:ext cx="22689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95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Portales como datos.gob.es y data.europa.eu ya ofrecen catálogo, filtros, API, SPARQL y metadatos semánticos basados en estándares. Son una base sólida, pero exigen conocer bien el dominio y buscar con términos relativamente precisos.</a:t>
            </a:r>
            <a:endParaRPr b="0" sz="11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48cda529c_0_812"/>
          <p:cNvSpPr/>
          <p:nvPr/>
        </p:nvSpPr>
        <p:spPr>
          <a:xfrm>
            <a:off x="3152849" y="1920250"/>
            <a:ext cx="2847600" cy="19656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48cda529c_0_812"/>
          <p:cNvSpPr/>
          <p:nvPr/>
        </p:nvSpPr>
        <p:spPr>
          <a:xfrm>
            <a:off x="3102855" y="1940190"/>
            <a:ext cx="54600" cy="1965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48cda529c_0_812"/>
          <p:cNvSpPr/>
          <p:nvPr/>
        </p:nvSpPr>
        <p:spPr>
          <a:xfrm>
            <a:off x="3213372" y="2003975"/>
            <a:ext cx="33204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 u="none" strike="noStrike">
                <a:solidFill>
                  <a:schemeClr val="dk2"/>
                </a:solidFill>
              </a:rPr>
              <a:t>Hacia dónde va el </a:t>
            </a:r>
            <a:r>
              <a:rPr b="1" lang="es-ES" sz="1800">
                <a:solidFill>
                  <a:schemeClr val="dk2"/>
                </a:solidFill>
              </a:rPr>
              <a:t>sector</a:t>
            </a:r>
            <a:endParaRPr b="1" sz="1800" u="none" strike="noStrike">
              <a:solidFill>
                <a:schemeClr val="dk2"/>
              </a:solidFill>
            </a:endParaRPr>
          </a:p>
        </p:txBody>
      </p:sp>
      <p:sp>
        <p:nvSpPr>
          <p:cNvPr id="169" name="Google Shape;169;g3e48cda529c_0_812"/>
          <p:cNvSpPr/>
          <p:nvPr/>
        </p:nvSpPr>
        <p:spPr>
          <a:xfrm>
            <a:off x="3542160" y="2368270"/>
            <a:ext cx="21804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95">
                <a:solidFill>
                  <a:schemeClr val="dk1"/>
                </a:solidFill>
              </a:rPr>
              <a:t>El estado del arte se está moviendo hacia búsqueda semántica, embeddings, ranking híbrido y asistentes conversacionales que ayudan a descubrir datasets y tablas aunque la consulta no use las mismas palabras que el catálogo</a:t>
            </a:r>
            <a:r>
              <a:rPr b="0" lang="es-ES" sz="1395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3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e48cda529c_0_812"/>
          <p:cNvSpPr/>
          <p:nvPr/>
        </p:nvSpPr>
        <p:spPr>
          <a:xfrm>
            <a:off x="6137910" y="1920240"/>
            <a:ext cx="2468700" cy="19656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48cda529c_0_812"/>
          <p:cNvSpPr/>
          <p:nvPr/>
        </p:nvSpPr>
        <p:spPr>
          <a:xfrm>
            <a:off x="6281940" y="2003985"/>
            <a:ext cx="21942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 u="none" strike="noStrike">
                <a:solidFill>
                  <a:schemeClr val="dk2"/>
                </a:solidFill>
              </a:rPr>
              <a:t>Nuestro hueco</a:t>
            </a:r>
            <a:endParaRPr b="1" sz="1800" u="none" strike="noStrike">
              <a:solidFill>
                <a:schemeClr val="dk2"/>
              </a:solidFill>
            </a:endParaRPr>
          </a:p>
        </p:txBody>
      </p:sp>
      <p:sp>
        <p:nvSpPr>
          <p:cNvPr id="172" name="Google Shape;172;g3e48cda529c_0_812"/>
          <p:cNvSpPr/>
          <p:nvPr/>
        </p:nvSpPr>
        <p:spPr>
          <a:xfrm>
            <a:off x="6268640" y="2372583"/>
            <a:ext cx="21804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95">
                <a:solidFill>
                  <a:schemeClr val="dk1"/>
                </a:solidFill>
              </a:rPr>
              <a:t>Nuestra propuesta se sitúa justo ahí: convertir una necesidad analítica expresada en lenguaje natural en una selección explicada de datasets, señalando relevancia, cobertura, limitaciones y posibles combinaciones para un estudio.</a:t>
            </a:r>
            <a:endParaRPr b="0" sz="13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e48cda529c_0_812"/>
          <p:cNvCxnSpPr/>
          <p:nvPr/>
        </p:nvCxnSpPr>
        <p:spPr>
          <a:xfrm>
            <a:off x="1748790" y="4617720"/>
            <a:ext cx="56238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g3e48cda529c_0_812"/>
          <p:cNvSpPr/>
          <p:nvPr/>
        </p:nvSpPr>
        <p:spPr>
          <a:xfrm>
            <a:off x="685800" y="4407480"/>
            <a:ext cx="1714200" cy="632400"/>
          </a:xfrm>
          <a:prstGeom prst="roundRect">
            <a:avLst>
              <a:gd fmla="val 22222" name="adj"/>
            </a:avLst>
          </a:prstGeom>
          <a:solidFill>
            <a:schemeClr val="accen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e48cda529c_0_812"/>
          <p:cNvSpPr/>
          <p:nvPr/>
        </p:nvSpPr>
        <p:spPr>
          <a:xfrm>
            <a:off x="945000" y="4617720"/>
            <a:ext cx="16047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Catálogos</a:t>
            </a:r>
            <a:r>
              <a:rPr lang="es-ES" sz="1800">
                <a:solidFill>
                  <a:schemeClr val="lt1"/>
                </a:solidFill>
              </a:rPr>
              <a:t>,</a:t>
            </a:r>
            <a:r>
              <a:rPr b="0" lang="es-ES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800">
                <a:solidFill>
                  <a:schemeClr val="lt1"/>
                </a:solidFill>
              </a:rPr>
              <a:t>M</a:t>
            </a:r>
            <a:r>
              <a:rPr b="0" lang="es-ES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etadatos</a:t>
            </a:r>
            <a:endParaRPr b="0" sz="18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48cda529c_0_812"/>
          <p:cNvSpPr/>
          <p:nvPr/>
        </p:nvSpPr>
        <p:spPr>
          <a:xfrm>
            <a:off x="3600450" y="4407480"/>
            <a:ext cx="1885800" cy="632400"/>
          </a:xfrm>
          <a:prstGeom prst="roundRect">
            <a:avLst>
              <a:gd fmla="val 22222" name="adj"/>
            </a:avLst>
          </a:prstGeom>
          <a:solidFill>
            <a:schemeClr val="accen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48cda529c_0_812"/>
          <p:cNvSpPr/>
          <p:nvPr/>
        </p:nvSpPr>
        <p:spPr>
          <a:xfrm>
            <a:off x="3985420" y="4617720"/>
            <a:ext cx="17763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Búsqueda semántica</a:t>
            </a:r>
            <a:endParaRPr b="0" sz="18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48cda529c_0_812"/>
          <p:cNvSpPr/>
          <p:nvPr/>
        </p:nvSpPr>
        <p:spPr>
          <a:xfrm>
            <a:off x="6583680" y="4407480"/>
            <a:ext cx="1817100" cy="632400"/>
          </a:xfrm>
          <a:prstGeom prst="roundRect">
            <a:avLst>
              <a:gd fmla="val 22222" name="adj"/>
            </a:avLst>
          </a:prstGeom>
          <a:solidFill>
            <a:schemeClr val="accent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48cda529c_0_812"/>
          <p:cNvSpPr/>
          <p:nvPr/>
        </p:nvSpPr>
        <p:spPr>
          <a:xfrm>
            <a:off x="6693300" y="4626360"/>
            <a:ext cx="1707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Oportunidad del proyecto</a:t>
            </a:r>
            <a:endParaRPr b="0" sz="18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e48cda529c_0_812"/>
          <p:cNvSpPr/>
          <p:nvPr/>
        </p:nvSpPr>
        <p:spPr>
          <a:xfrm>
            <a:off x="497250" y="5329950"/>
            <a:ext cx="8092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Nuestra lectura como equipo: la base tecnológica ya existe, pero todavía hay espacio claro para una </a:t>
            </a:r>
            <a:r>
              <a:rPr b="1" lang="es-ES" sz="1800" u="none" strike="noStrike">
                <a:solidFill>
                  <a:schemeClr val="dk1"/>
                </a:solidFill>
              </a:rPr>
              <a:t>capa conversacional y explicativa sobre datos.gob.es</a:t>
            </a: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48cda529c_0_812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OPORTUNIDAD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g3e48cda529c_0_812"/>
          <p:cNvSpPr/>
          <p:nvPr/>
        </p:nvSpPr>
        <p:spPr>
          <a:xfrm>
            <a:off x="459755" y="1920240"/>
            <a:ext cx="54600" cy="1965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48cda529c_0_812"/>
          <p:cNvSpPr/>
          <p:nvPr/>
        </p:nvSpPr>
        <p:spPr>
          <a:xfrm>
            <a:off x="6107243" y="1920215"/>
            <a:ext cx="54600" cy="1965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e48cda529c_0_8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"/>
          <p:cNvSpPr txBox="1"/>
          <p:nvPr/>
        </p:nvSpPr>
        <p:spPr>
          <a:xfrm>
            <a:off x="2446330" y="5129334"/>
            <a:ext cx="653220" cy="2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0">
            <a:spAutoFit/>
          </a:bodyPr>
          <a:lstStyle/>
          <a:p>
            <a:pPr indent="0" lvl="0" marL="108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SOLUCIÓN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972900" y="1499075"/>
            <a:ext cx="7198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</a:rPr>
              <a:t>Asistente conversacional</a:t>
            </a:r>
            <a:r>
              <a:rPr b="1" lang="es-ES" sz="1800"/>
              <a:t> que convierte preguntas en lenguaje natural sobre datos públicos, en una lista priorizada y explicada de datasets de </a:t>
            </a:r>
            <a:r>
              <a:rPr b="1" lang="es-ES" sz="1800" u="sng">
                <a:solidFill>
                  <a:schemeClr val="hlink"/>
                </a:solidFill>
                <a:hlinkClick r:id="rId3"/>
              </a:rPr>
              <a:t>datos.gob.es</a:t>
            </a:r>
            <a:r>
              <a:rPr b="1" lang="es-ES" sz="1800"/>
              <a:t>.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</a:rPr>
              <a:t>Para cada dataset recomendado </a:t>
            </a:r>
            <a:r>
              <a:rPr b="1" lang="es-ES" sz="1800">
                <a:solidFill>
                  <a:schemeClr val="dk1"/>
                </a:solidFill>
              </a:rPr>
              <a:t>explica</a:t>
            </a:r>
            <a:r>
              <a:rPr lang="es-ES" sz="1800">
                <a:solidFill>
                  <a:schemeClr val="dk1"/>
                </a:solidFill>
              </a:rPr>
              <a:t>: variables aproximadas, cobertura geográfica/temporal, formatos, licencia, calidad de metadatos y limitaciones.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Trazabilidad</a:t>
            </a:r>
            <a:r>
              <a:rPr lang="es-ES" sz="1800">
                <a:solidFill>
                  <a:schemeClr val="dk1"/>
                </a:solidFill>
              </a:rPr>
              <a:t> obligatoria: cada recomendación enlaza al dataset real en datos.gob.es. No inventa datasets ni metadatos.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Combina búsqueda semántica (</a:t>
            </a:r>
            <a:r>
              <a:rPr b="1" lang="es-ES" sz="1800"/>
              <a:t>embeddings</a:t>
            </a:r>
            <a:r>
              <a:rPr lang="es-ES" sz="1800"/>
              <a:t> multilingües), búsqueda léxica (</a:t>
            </a:r>
            <a:r>
              <a:rPr b="1" lang="es-ES" sz="1800"/>
              <a:t>full-text</a:t>
            </a:r>
            <a:r>
              <a:rPr lang="es-ES" sz="1800"/>
              <a:t>) y un </a:t>
            </a:r>
            <a:r>
              <a:rPr b="1" lang="es-ES" sz="1800"/>
              <a:t>LLM local/cloud</a:t>
            </a:r>
            <a:r>
              <a:rPr lang="es-ES" sz="1800"/>
              <a:t> para re-ranking, expansión de queries y validación de metadatos.</a:t>
            </a:r>
            <a:r>
              <a:rPr lang="es-ES"/>
              <a:t> 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806875" y="1669625"/>
            <a:ext cx="107700" cy="372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>
            <p:ph type="title"/>
          </p:nvPr>
        </p:nvSpPr>
        <p:spPr>
          <a:xfrm>
            <a:off x="1075737" y="386686"/>
            <a:ext cx="7016554" cy="35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00">
            <a:spAutoFit/>
          </a:bodyPr>
          <a:lstStyle/>
          <a:p>
            <a:pPr indent="0" lvl="0" marL="1086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6"/>
              <a:buFont typeface="Gill Sans"/>
              <a:buNone/>
            </a:pPr>
            <a:r>
              <a:rPr b="1" lang="es-ES" sz="2266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DATOS CON LOS QUE SE VA A TRABAJAR</a:t>
            </a:r>
            <a:endParaRPr b="1" sz="2266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FUENTES DE DATOS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345" y="999400"/>
            <a:ext cx="82293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Nuestra propuesta </a:t>
            </a:r>
            <a:r>
              <a:rPr b="1" lang="es-ES" sz="1800" u="none" strike="noStrike">
                <a:solidFill>
                  <a:schemeClr val="dk1"/>
                </a:solidFill>
              </a:rPr>
              <a:t>parte de datos.gob.es</a:t>
            </a: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ámbito inicial y deja </a:t>
            </a:r>
            <a:r>
              <a:rPr b="1" lang="es-ES" sz="1800" u="none" strike="noStrike">
                <a:solidFill>
                  <a:schemeClr val="dk1"/>
                </a:solidFill>
              </a:rPr>
              <a:t>data.europa.eu como extensión comparativa</a:t>
            </a: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una segunda fase.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14350" y="1828800"/>
            <a:ext cx="2605800" cy="214860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2"/>
                </a:solidFill>
              </a:rPr>
              <a:t>FASE 1</a:t>
            </a:r>
            <a:r>
              <a:rPr lang="es-ES">
                <a:solidFill>
                  <a:schemeClr val="dk2"/>
                </a:solidFill>
              </a:rPr>
              <a:t> - </a:t>
            </a:r>
            <a:r>
              <a:rPr lang="es-ES">
                <a:solidFill>
                  <a:schemeClr val="dk2"/>
                </a:solidFill>
              </a:rPr>
              <a:t>datos.gob.es: API CKAN + SPARQL endpoint </a:t>
            </a:r>
            <a:endParaRPr b="0" sz="18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1375" y="2563675"/>
            <a:ext cx="23178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Catálogo español, contexto conocido, corpus más controlable, buena demostración para usuarios españoles y menor complejidad de deduplicación.</a:t>
            </a:r>
            <a:endParaRPr b="0" sz="13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326125" y="1828800"/>
            <a:ext cx="2605800" cy="214860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2"/>
                </a:solidFill>
              </a:rPr>
              <a:t>FASE 2</a:t>
            </a:r>
            <a:r>
              <a:rPr lang="es-ES">
                <a:solidFill>
                  <a:schemeClr val="dk2"/>
                </a:solidFill>
              </a:rPr>
              <a:t> - data.europa.eu: portal europeo</a:t>
            </a:r>
            <a:endParaRPr b="0" sz="18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326130" y="1828800"/>
            <a:ext cx="54600" cy="2148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470125" y="2616726"/>
            <a:ext cx="23178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comparar cobertura europea, recuperar datasets transfronterizos y validar si la solución se adapta a otros catálogos.</a:t>
            </a:r>
            <a:endParaRPr b="0" sz="13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137910" y="1828800"/>
            <a:ext cx="2605800" cy="214860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2"/>
                </a:solidFill>
              </a:rPr>
              <a:t>Catálogos regionales, municipales CKAN/DCAT (</a:t>
            </a:r>
            <a:r>
              <a:rPr b="1" lang="es-ES">
                <a:solidFill>
                  <a:schemeClr val="dk2"/>
                </a:solidFill>
              </a:rPr>
              <a:t>extensión futura</a:t>
            </a:r>
            <a:r>
              <a:rPr lang="es-ES">
                <a:solidFill>
                  <a:schemeClr val="dk2"/>
                </a:solidFill>
              </a:rPr>
              <a:t>)</a:t>
            </a:r>
            <a:endParaRPr b="0" sz="18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206475" y="2696038"/>
            <a:ext cx="2317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>
                <a:solidFill>
                  <a:schemeClr val="dk1"/>
                </a:solidFill>
              </a:rPr>
              <a:t>Que pueda ser exportable a otras bases de datos locales</a:t>
            </a:r>
            <a:endParaRPr b="0" sz="1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984375" y="4498275"/>
            <a:ext cx="268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Metadatos a indexar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984375" y="4892050"/>
            <a:ext cx="30000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Título, descripción y palabras clave</a:t>
            </a:r>
            <a:endParaRPr b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Tema, publicador, frecuencia y licencia</a:t>
            </a:r>
            <a:endParaRPr b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 geográfica y temporal</a:t>
            </a:r>
            <a:endParaRPr b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Distribuciones, formatos y enlaces</a:t>
            </a:r>
            <a:endParaRPr b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3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Idioma, calidad y posibles duplicados</a:t>
            </a:r>
            <a:endParaRPr b="0" sz="13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445780" y="1828800"/>
            <a:ext cx="54600" cy="2148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083093" y="1828800"/>
            <a:ext cx="54600" cy="21486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4341325" y="4629275"/>
            <a:ext cx="388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D</a:t>
            </a:r>
            <a:r>
              <a:rPr lang="es-ES" sz="1300">
                <a:solidFill>
                  <a:schemeClr val="dk1"/>
                </a:solidFill>
              </a:rPr>
              <a:t>escripciones ampliadas, extracción de entidades (territorio, periodo, variables)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4413150" y="4304925"/>
            <a:ext cx="3619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600">
                <a:solidFill>
                  <a:srgbClr val="163A5F"/>
                </a:solidFill>
              </a:rPr>
              <a:t>Enriquecimiento LLM controlado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4341325" y="5746250"/>
            <a:ext cx="321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25-30 preguntas complejas con relevancia anotada manualmente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4413150" y="5472325"/>
            <a:ext cx="3619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1600">
                <a:solidFill>
                  <a:srgbClr val="163A5F"/>
                </a:solidFill>
              </a:rPr>
              <a:t>Benchmark propio: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 flipH="1" rot="10800000">
            <a:off x="984375" y="4762875"/>
            <a:ext cx="3000000" cy="93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413150" y="4608700"/>
            <a:ext cx="3682500" cy="105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 flipH="1" rot="10800000">
            <a:off x="4413150" y="5746225"/>
            <a:ext cx="3000000" cy="93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TIPOS DE ANÁLISIS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08825" y="957851"/>
            <a:ext cx="2537100" cy="16512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59742" y="1122375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Descriptivo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59742" y="1488135"/>
            <a:ext cx="2249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Inventario del catálogo: temas, publicadores, formatos, actualización, idiomas, cobertura y calidad de metadatos.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300075" y="957851"/>
            <a:ext cx="2537100" cy="16332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451003" y="1122375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Semántico / NLP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451003" y="1488135"/>
            <a:ext cx="2249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Embeddings, expansión de consulta, extracción de intención, entidades, territorio, periodo y variables de interés</a:t>
            </a:r>
            <a:r>
              <a:rPr b="0" lang="es-ES" sz="11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058825" y="2772976"/>
            <a:ext cx="2537100" cy="16332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234338" y="2839413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Evaluativo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202825" y="3236262"/>
            <a:ext cx="22491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Comparación contra búsqueda tradicional mediante Precision@K, Recall@K, MRR, nDCG y evaluación humana</a:t>
            </a:r>
            <a:r>
              <a:rPr b="0" lang="es-ES" sz="11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82930" y="4570090"/>
            <a:ext cx="205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63A5F"/>
                </a:solidFill>
              </a:rPr>
              <a:t>Entregables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82915" y="4987260"/>
            <a:ext cx="40461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Pipeline de ingesta y normalización.</a:t>
            </a:r>
            <a:br>
              <a:rPr lang="es-ES">
                <a:solidFill>
                  <a:schemeClr val="dk1"/>
                </a:solidFill>
              </a:rPr>
            </a:br>
            <a:r>
              <a:rPr lang="es-ES">
                <a:solidFill>
                  <a:schemeClr val="dk1"/>
                </a:solidFill>
              </a:rPr>
              <a:t>Modelo de datos de metadatos y distribuciones.</a:t>
            </a:r>
            <a:br>
              <a:rPr lang="es-ES">
                <a:solidFill>
                  <a:schemeClr val="dk1"/>
                </a:solidFill>
              </a:rPr>
            </a:br>
            <a:r>
              <a:rPr lang="es-ES">
                <a:solidFill>
                  <a:schemeClr val="dk1"/>
                </a:solidFill>
              </a:rPr>
              <a:t>Índice semántico e híbrido.</a:t>
            </a:r>
            <a:br>
              <a:rPr lang="es-ES">
                <a:solidFill>
                  <a:schemeClr val="dk1"/>
                </a:solidFill>
              </a:rPr>
            </a:br>
            <a:r>
              <a:rPr lang="es-ES">
                <a:solidFill>
                  <a:schemeClr val="dk1"/>
                </a:solidFill>
              </a:rPr>
              <a:t>API e interfaz conversacional.</a:t>
            </a:r>
            <a:br>
              <a:rPr lang="es-ES">
                <a:solidFill>
                  <a:schemeClr val="dk1"/>
                </a:solidFill>
              </a:rPr>
            </a:br>
            <a:r>
              <a:rPr lang="es-ES">
                <a:solidFill>
                  <a:schemeClr val="dk1"/>
                </a:solidFill>
              </a:rPr>
              <a:t>Benchmark de consultas complejas.</a:t>
            </a:r>
            <a:br>
              <a:rPr lang="es-ES">
                <a:solidFill>
                  <a:schemeClr val="dk1"/>
                </a:solidFill>
              </a:rPr>
            </a:br>
            <a:r>
              <a:rPr lang="es-ES">
                <a:solidFill>
                  <a:schemeClr val="dk1"/>
                </a:solidFill>
              </a:rPr>
              <a:t>Dashboard de cobertura y calidad del catálogo.</a:t>
            </a:r>
            <a:endParaRPr b="0" sz="15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937275" y="4579953"/>
            <a:ext cx="205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63A5F"/>
                </a:solidFill>
              </a:rPr>
              <a:t>Fuera de alcance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41310" y="4987260"/>
            <a:ext cx="34287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No inventar datasets.</a:t>
            </a:r>
            <a:br>
              <a:rPr lang="es-ES" sz="1300">
                <a:solidFill>
                  <a:schemeClr val="dk1"/>
                </a:solidFill>
              </a:rPr>
            </a:br>
            <a:r>
              <a:rPr lang="es-ES" sz="1300">
                <a:solidFill>
                  <a:schemeClr val="dk1"/>
                </a:solidFill>
              </a:rPr>
              <a:t>No garantizar que el dato final sea suficiente sin validación posterior.</a:t>
            </a:r>
            <a:br>
              <a:rPr lang="es-ES" sz="1300">
                <a:solidFill>
                  <a:schemeClr val="dk1"/>
                </a:solidFill>
              </a:rPr>
            </a:br>
            <a:r>
              <a:rPr lang="es-ES" sz="1300">
                <a:solidFill>
                  <a:schemeClr val="dk1"/>
                </a:solidFill>
              </a:rPr>
              <a:t>No cubrir todos los catálogos europeos en la primera fase.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No sustituir el criterio experto del investigador</a:t>
            </a:r>
            <a:endParaRPr b="0" sz="14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300077" y="957851"/>
            <a:ext cx="54600" cy="16332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2072600" y="2744999"/>
            <a:ext cx="54600" cy="16332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855075" y="4925200"/>
            <a:ext cx="3258600" cy="171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945275" y="957850"/>
            <a:ext cx="2537100" cy="16332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096213" y="1122375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63A5F"/>
                </a:solidFill>
              </a:rPr>
              <a:t>Predictivo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096213" y="1488135"/>
            <a:ext cx="22491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</a:rPr>
              <a:t>R</a:t>
            </a:r>
            <a:r>
              <a:rPr lang="es-ES" sz="1300">
                <a:solidFill>
                  <a:schemeClr val="dk1"/>
                </a:solidFill>
              </a:rPr>
              <a:t>anking híbrido que predice qué datasets son más relevantes para una consulta dada.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938525" y="957850"/>
            <a:ext cx="54600" cy="16332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841300" y="2768901"/>
            <a:ext cx="2537100" cy="16332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985300" y="3276662"/>
            <a:ext cx="22491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</a:rPr>
              <a:t>D</a:t>
            </a:r>
            <a:r>
              <a:rPr lang="es-ES" sz="1200">
                <a:solidFill>
                  <a:schemeClr val="dk1"/>
                </a:solidFill>
              </a:rPr>
              <a:t>ashboard de cobertura y calidad para detectar gaps temáticos y organismos mejor/peor cubiertos.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855075" y="2785399"/>
            <a:ext cx="54600" cy="16332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978388" y="2806038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163A5F"/>
                </a:solidFill>
              </a:rPr>
              <a:t>Exploratorio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50" name="Google Shape;250;p6"/>
          <p:cNvSpPr/>
          <p:nvPr/>
        </p:nvSpPr>
        <p:spPr>
          <a:xfrm>
            <a:off x="582925" y="4907075"/>
            <a:ext cx="3869100" cy="171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08827" y="966851"/>
            <a:ext cx="54600" cy="16332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48cda529c_0_845"/>
          <p:cNvSpPr/>
          <p:nvPr/>
        </p:nvSpPr>
        <p:spPr>
          <a:xfrm>
            <a:off x="0" y="0"/>
            <a:ext cx="9143400" cy="164100"/>
          </a:xfrm>
          <a:prstGeom prst="rect">
            <a:avLst/>
          </a:prstGeom>
          <a:solidFill>
            <a:srgbClr val="8CC63F"/>
          </a:solidFill>
          <a:ln cap="flat" cmpd="sng" w="127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48cda529c_0_845"/>
          <p:cNvSpPr/>
          <p:nvPr/>
        </p:nvSpPr>
        <p:spPr>
          <a:xfrm>
            <a:off x="377190" y="747910"/>
            <a:ext cx="6377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163A5F"/>
                </a:solidFill>
              </a:rPr>
              <a:t>Ejemplos y Casos de uso para la demo:</a:t>
            </a:r>
            <a:endParaRPr b="0" sz="3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e48cda529c_0_845"/>
          <p:cNvSpPr/>
          <p:nvPr/>
        </p:nvSpPr>
        <p:spPr>
          <a:xfrm>
            <a:off x="6858000" y="384120"/>
            <a:ext cx="1885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00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Preguntas complejas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e48cda529c_0_845"/>
          <p:cNvSpPr/>
          <p:nvPr/>
        </p:nvSpPr>
        <p:spPr>
          <a:xfrm>
            <a:off x="377190" y="6510600"/>
            <a:ext cx="56232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750" u="none" strike="noStrike">
                <a:solidFill>
                  <a:srgbClr val="7A8794"/>
                </a:solidFill>
                <a:latin typeface="Arial"/>
                <a:ea typeface="Arial"/>
                <a:cs typeface="Arial"/>
                <a:sym typeface="Arial"/>
              </a:rPr>
              <a:t>Propuesta TFM · Buscador semántico de datasets públicos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e48cda529c_0_845"/>
          <p:cNvSpPr/>
          <p:nvPr/>
        </p:nvSpPr>
        <p:spPr>
          <a:xfrm>
            <a:off x="8469630" y="6446520"/>
            <a:ext cx="308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48cda529c_0_845"/>
          <p:cNvSpPr/>
          <p:nvPr/>
        </p:nvSpPr>
        <p:spPr>
          <a:xfrm>
            <a:off x="514350" y="1325880"/>
            <a:ext cx="3805800" cy="1599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48cda529c_0_845"/>
          <p:cNvSpPr/>
          <p:nvPr/>
        </p:nvSpPr>
        <p:spPr>
          <a:xfrm>
            <a:off x="514350" y="1325880"/>
            <a:ext cx="54600" cy="15999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48cda529c_0_845"/>
          <p:cNvSpPr/>
          <p:nvPr/>
        </p:nvSpPr>
        <p:spPr>
          <a:xfrm>
            <a:off x="665280" y="1490400"/>
            <a:ext cx="3531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Despoblación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48cda529c_0_845"/>
          <p:cNvSpPr/>
          <p:nvPr/>
        </p:nvSpPr>
        <p:spPr>
          <a:xfrm>
            <a:off x="665280" y="1856160"/>
            <a:ext cx="3517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“Necesito datos para estudiar despoblación, conectividad digital y servicios públicos en España.”</a:t>
            </a:r>
            <a:endParaRPr b="0" sz="12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48cda529c_0_845"/>
          <p:cNvSpPr/>
          <p:nvPr/>
        </p:nvSpPr>
        <p:spPr>
          <a:xfrm>
            <a:off x="4834890" y="1325880"/>
            <a:ext cx="3805800" cy="1599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48cda529c_0_845"/>
          <p:cNvSpPr/>
          <p:nvPr/>
        </p:nvSpPr>
        <p:spPr>
          <a:xfrm>
            <a:off x="4985820" y="1490400"/>
            <a:ext cx="3531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Salud y ambiente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48cda529c_0_845"/>
          <p:cNvSpPr/>
          <p:nvPr/>
        </p:nvSpPr>
        <p:spPr>
          <a:xfrm>
            <a:off x="4985820" y="1856160"/>
            <a:ext cx="3517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u="none" strike="noStrike">
                <a:solidFill>
                  <a:schemeClr val="dk1"/>
                </a:solidFill>
              </a:rPr>
              <a:t>“Quiero analizar si calidad del aire y clima se relacionan con enfermedades respiratorias por ciudad.”</a:t>
            </a:r>
            <a:endParaRPr sz="1250" u="none" strike="noStrike">
              <a:solidFill>
                <a:schemeClr val="dk1"/>
              </a:solidFill>
            </a:endParaRPr>
          </a:p>
        </p:txBody>
      </p:sp>
      <p:sp>
        <p:nvSpPr>
          <p:cNvPr id="269" name="Google Shape;269;g3e48cda529c_0_845"/>
          <p:cNvSpPr/>
          <p:nvPr/>
        </p:nvSpPr>
        <p:spPr>
          <a:xfrm>
            <a:off x="514350" y="3730680"/>
            <a:ext cx="3805800" cy="1599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48cda529c_0_845"/>
          <p:cNvSpPr/>
          <p:nvPr/>
        </p:nvSpPr>
        <p:spPr>
          <a:xfrm>
            <a:off x="514350" y="3730680"/>
            <a:ext cx="54600" cy="15999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48cda529c_0_845"/>
          <p:cNvSpPr/>
          <p:nvPr/>
        </p:nvSpPr>
        <p:spPr>
          <a:xfrm>
            <a:off x="665280" y="3895200"/>
            <a:ext cx="3531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Vivienda y turismo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e48cda529c_0_845"/>
          <p:cNvSpPr/>
          <p:nvPr/>
        </p:nvSpPr>
        <p:spPr>
          <a:xfrm>
            <a:off x="665280" y="4260960"/>
            <a:ext cx="3517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“Busca fuentes para medir el impacto del turismo en precios de vivienda en municipios costeros.”</a:t>
            </a:r>
            <a:endParaRPr b="0" sz="12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48cda529c_0_845"/>
          <p:cNvSpPr/>
          <p:nvPr/>
        </p:nvSpPr>
        <p:spPr>
          <a:xfrm>
            <a:off x="4834890" y="3730680"/>
            <a:ext cx="3805800" cy="15999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48cda529c_0_845"/>
          <p:cNvSpPr/>
          <p:nvPr/>
        </p:nvSpPr>
        <p:spPr>
          <a:xfrm>
            <a:off x="4985820" y="3895200"/>
            <a:ext cx="3531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Educación y renta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48cda529c_0_845"/>
          <p:cNvSpPr/>
          <p:nvPr/>
        </p:nvSpPr>
        <p:spPr>
          <a:xfrm>
            <a:off x="4985820" y="4260960"/>
            <a:ext cx="3517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“Quiero estudiar renta, desempleo y abandono escolar por comunidades autónomas.”</a:t>
            </a:r>
            <a:endParaRPr b="0" sz="12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48cda529c_0_845"/>
          <p:cNvSpPr/>
          <p:nvPr/>
        </p:nvSpPr>
        <p:spPr>
          <a:xfrm>
            <a:off x="3120390" y="3063240"/>
            <a:ext cx="2880000" cy="456900"/>
          </a:xfrm>
          <a:prstGeom prst="roundRect">
            <a:avLst>
              <a:gd fmla="val 16000" name="adj"/>
            </a:avLst>
          </a:prstGeom>
          <a:solidFill>
            <a:srgbClr val="163A5F"/>
          </a:solidFill>
          <a:ln cap="flat" cmpd="sng" w="12700">
            <a:solidFill>
              <a:srgbClr val="16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48cda529c_0_845"/>
          <p:cNvSpPr/>
          <p:nvPr/>
        </p:nvSpPr>
        <p:spPr>
          <a:xfrm>
            <a:off x="3257550" y="3182040"/>
            <a:ext cx="26058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Salida común: datasets + justificación + limitaciones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48cda529c_0_845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TIPOS DE ANÁLISIS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g3e48cda529c_0_845"/>
          <p:cNvSpPr/>
          <p:nvPr/>
        </p:nvSpPr>
        <p:spPr>
          <a:xfrm>
            <a:off x="4780300" y="1311130"/>
            <a:ext cx="54600" cy="15999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48cda529c_0_845"/>
          <p:cNvSpPr/>
          <p:nvPr/>
        </p:nvSpPr>
        <p:spPr>
          <a:xfrm>
            <a:off x="4834900" y="3730680"/>
            <a:ext cx="54600" cy="1599900"/>
          </a:xfrm>
          <a:prstGeom prst="rect">
            <a:avLst/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e48cda529c_0_8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00A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CLIENTES/GRUPOS DE INTERÉS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1112075" y="1095125"/>
            <a:ext cx="6831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Analistas de datos en consultoras y administraciones públicas.</a:t>
            </a:r>
            <a:br>
              <a:rPr lang="es-ES" sz="1700"/>
            </a:b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Investigadores y académicos (artículos, tesis, proyectos).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Periodistas de datos (verificación de hipótesis con fuentes públicas).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Estudiantes de másteres de datos.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Unidades de innovación pública (identificación de fuentes fiables).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Stakeholders indirectos: gestores de datos.gob.es, tutores EOI, evaluadores TFM.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dk1"/>
                </a:solidFill>
              </a:rPr>
              <a:t>Sector empresarial: especialmente PYMES.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dk1"/>
                </a:solidFill>
              </a:rPr>
              <a:t>Ciudadanía en general.</a:t>
            </a:r>
            <a:endParaRPr sz="1700"/>
          </a:p>
        </p:txBody>
      </p:sp>
      <p:sp>
        <p:nvSpPr>
          <p:cNvPr id="289" name="Google Shape;289;p7"/>
          <p:cNvSpPr/>
          <p:nvPr/>
        </p:nvSpPr>
        <p:spPr>
          <a:xfrm>
            <a:off x="959475" y="1271075"/>
            <a:ext cx="80700" cy="4021500"/>
          </a:xfrm>
          <a:prstGeom prst="rect">
            <a:avLst/>
          </a:prstGeom>
          <a:solidFill>
            <a:srgbClr val="00A24D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00A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KPIS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62920" y="848175"/>
            <a:ext cx="82293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28" u="none" strike="noStrike">
                <a:solidFill>
                  <a:srgbClr val="1F2937"/>
                </a:solidFill>
              </a:rPr>
              <a:t>El punto fuerte del proyecto es que se puede medir: no basta con que “responda”, hay que d</a:t>
            </a:r>
            <a:r>
              <a:rPr b="1" lang="es-ES" sz="1628" u="none" strike="noStrike">
                <a:solidFill>
                  <a:srgbClr val="1F2937"/>
                </a:solidFill>
              </a:rPr>
              <a:t>emostrar que recupera mejores datasets.</a:t>
            </a:r>
            <a:endParaRPr b="1" sz="1628" u="none" strike="noStrike">
              <a:solidFill>
                <a:srgbClr val="000000"/>
              </a:solidFill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82930" y="1847160"/>
            <a:ext cx="7989300" cy="475200"/>
          </a:xfrm>
          <a:prstGeom prst="roundRect">
            <a:avLst>
              <a:gd fmla="val 7692" name="adj"/>
            </a:avLst>
          </a:prstGeom>
          <a:solidFill>
            <a:srgbClr val="EAF6E5"/>
          </a:solidFill>
          <a:ln cap="flat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20090" y="1984320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Calidad del ranking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571750" y="1984320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Precision@5 · Recall@10 · nDCG@10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314950" y="1984320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 útiles en las primeras posiciones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82930" y="2487240"/>
            <a:ext cx="7989300" cy="475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20090" y="2624400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571750" y="2624400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 hasta encontrar fuentes válidas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14950" y="2624400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Ahorro frente a búsqueda manual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82930" y="3127320"/>
            <a:ext cx="7989300" cy="475200"/>
          </a:xfrm>
          <a:prstGeom prst="roundRect">
            <a:avLst>
              <a:gd fmla="val 7692" name="adj"/>
            </a:avLst>
          </a:prstGeom>
          <a:solidFill>
            <a:srgbClr val="EAF6E5"/>
          </a:solidFill>
          <a:ln cap="flat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20090" y="3264480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Confianza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2571750" y="3264480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respuestas con enlaces verificables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314950" y="3264480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alucinaciones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82930" y="3767400"/>
            <a:ext cx="7989300" cy="475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6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20090" y="3904560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571750" y="3904560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datasets indexados y actualizados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314950" y="3904560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Robustez operativa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77130" y="4979155"/>
            <a:ext cx="7989300" cy="4752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 cap="flat" cmpd="sng" w="9525">
            <a:solidFill>
              <a:srgbClr val="EAF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714290" y="5116315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Adopción piloto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565950" y="5116315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Consultas/semana · datasets guardados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309150" y="5116315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12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Interés real de usuarios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57625" y="5879875"/>
            <a:ext cx="7648500" cy="566700"/>
          </a:xfrm>
          <a:prstGeom prst="roundRect">
            <a:avLst>
              <a:gd fmla="val 12903" name="adj"/>
            </a:avLst>
          </a:prstGeom>
          <a:solidFill>
            <a:srgbClr val="D7EACD"/>
          </a:solidFill>
          <a:ln cap="flat" cmpd="sng" w="12700">
            <a:solidFill>
              <a:srgbClr val="D2E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529050" y="5925626"/>
            <a:ext cx="757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Benchmark del proyecto: 25–30 preguntas complejas, resultados relevantes anotados manualmente y comparación entre búsqueda literal, semántica e híbrida.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0" name="Google Shape;320;p8"/>
          <p:cNvSpPr/>
          <p:nvPr/>
        </p:nvSpPr>
        <p:spPr>
          <a:xfrm>
            <a:off x="577130" y="4373280"/>
            <a:ext cx="7989300" cy="475200"/>
          </a:xfrm>
          <a:prstGeom prst="roundRect">
            <a:avLst>
              <a:gd fmla="val 7692" name="adj"/>
            </a:avLst>
          </a:prstGeom>
          <a:solidFill>
            <a:srgbClr val="EAF6E5"/>
          </a:solidFill>
          <a:ln cap="flat" cmpd="sng" w="9525">
            <a:solidFill>
              <a:srgbClr val="EAF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714290" y="4510440"/>
            <a:ext cx="1680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50">
                <a:solidFill>
                  <a:srgbClr val="163A5F"/>
                </a:solidFill>
              </a:rPr>
              <a:t>Tasa Alucinaciones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565950" y="4510440"/>
            <a:ext cx="25029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0">
                <a:solidFill>
                  <a:schemeClr val="dk1"/>
                </a:solidFill>
              </a:rPr>
              <a:t>Menos de un 5% de datasets o metadatos inventados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309150" y="4510440"/>
            <a:ext cx="2983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20">
                <a:solidFill>
                  <a:schemeClr val="dk1"/>
                </a:solidFill>
              </a:rPr>
              <a:t>Fiable</a:t>
            </a:r>
            <a:endParaRPr b="0" sz="112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00A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ACTIVIDADES CLAVE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736100" y="1120200"/>
            <a:ext cx="8185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Ingesta y normalización de metadatos desde </a:t>
            </a:r>
            <a:r>
              <a:rPr lang="es-ES" sz="1800" u="sng">
                <a:solidFill>
                  <a:schemeClr val="hlink"/>
                </a:solidFill>
                <a:hlinkClick r:id="rId3"/>
              </a:rPr>
              <a:t>datos.gob.es</a:t>
            </a:r>
            <a:r>
              <a:rPr lang="es-ES" sz="1800"/>
              <a:t>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Análisis exploratorio del catálogo (volumen, temas, calidad, cobertura).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Diseño de embeddings con modelo multilingüe (español + inglés administrativo).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Construcción de índice híbrido: semántico (similitud vectores) + léxico (BM25).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Extracción de intención: territorio, periodo, dominio, variables de interés.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Desarrollo de API REST y chatbot conversacional con trazabilidad.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Benchmark y evaluación comparativa vs búsqueda tradicional.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Dashboard de cobertura y calidad del catálogo.</a:t>
            </a:r>
            <a:endParaRPr sz="1800"/>
          </a:p>
        </p:txBody>
      </p:sp>
      <p:sp>
        <p:nvSpPr>
          <p:cNvPr id="330" name="Google Shape;330;p9"/>
          <p:cNvSpPr/>
          <p:nvPr/>
        </p:nvSpPr>
        <p:spPr>
          <a:xfrm>
            <a:off x="681200" y="1160100"/>
            <a:ext cx="54900" cy="4537800"/>
          </a:xfrm>
          <a:prstGeom prst="rect">
            <a:avLst/>
          </a:prstGeom>
          <a:solidFill>
            <a:srgbClr val="00A24D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8576" y="5872600"/>
            <a:ext cx="985425" cy="985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00A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RECURSOS CLAVE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901175" y="1209125"/>
            <a:ext cx="7485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Equipo de 6 personas (~150h/persona = ~900h totales en 14-16 semanas).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Acceso a API datos.gob.es (gratuita, datos públicos).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Modelos de embeddings open source multilingües (ej. multilingual-e5, BGE-M3).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Base de datos vectorial: PostgreSQL + pgvector o FAISS en memoria.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Docker para contenerización, Git para control de versiones.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Infraestructura local (portátiles del equipo) + VPS opcional en cloud (5-20€/mes).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/>
              <a:t>Plataforma EOI para comunicación con tutor y entrega de documentos</a:t>
            </a:r>
            <a:endParaRPr sz="1700"/>
          </a:p>
        </p:txBody>
      </p:sp>
      <p:sp>
        <p:nvSpPr>
          <p:cNvPr id="338" name="Google Shape;338;p10"/>
          <p:cNvSpPr/>
          <p:nvPr/>
        </p:nvSpPr>
        <p:spPr>
          <a:xfrm>
            <a:off x="846275" y="1350425"/>
            <a:ext cx="54900" cy="3827100"/>
          </a:xfrm>
          <a:prstGeom prst="rect">
            <a:avLst/>
          </a:prstGeom>
          <a:solidFill>
            <a:srgbClr val="00A24D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48cda529c_0_327"/>
          <p:cNvSpPr/>
          <p:nvPr/>
        </p:nvSpPr>
        <p:spPr>
          <a:xfrm>
            <a:off x="0" y="0"/>
            <a:ext cx="9143400" cy="164100"/>
          </a:xfrm>
          <a:prstGeom prst="rect">
            <a:avLst/>
          </a:prstGeom>
          <a:solidFill>
            <a:srgbClr val="8CC63F"/>
          </a:solidFill>
          <a:ln cap="flat" cmpd="sng" w="127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48cda529c_0_327"/>
          <p:cNvSpPr/>
          <p:nvPr/>
        </p:nvSpPr>
        <p:spPr>
          <a:xfrm>
            <a:off x="377190" y="831023"/>
            <a:ext cx="6377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163A5F"/>
                </a:solidFill>
              </a:rPr>
              <a:t>Arquitectura técnica viable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48cda529c_0_327"/>
          <p:cNvSpPr/>
          <p:nvPr/>
        </p:nvSpPr>
        <p:spPr>
          <a:xfrm>
            <a:off x="377190" y="6510600"/>
            <a:ext cx="56232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750" u="none" strike="noStrike">
                <a:solidFill>
                  <a:srgbClr val="7A8794"/>
                </a:solidFill>
                <a:latin typeface="Arial"/>
                <a:ea typeface="Arial"/>
                <a:cs typeface="Arial"/>
                <a:sym typeface="Arial"/>
              </a:rPr>
              <a:t>Propuesta TFM · Buscador semántico de datasets públicos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48cda529c_0_327"/>
          <p:cNvSpPr/>
          <p:nvPr/>
        </p:nvSpPr>
        <p:spPr>
          <a:xfrm>
            <a:off x="8469630" y="6446520"/>
            <a:ext cx="308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g3e48cda529c_0_327"/>
          <p:cNvCxnSpPr/>
          <p:nvPr/>
        </p:nvCxnSpPr>
        <p:spPr>
          <a:xfrm>
            <a:off x="1659420" y="2046980"/>
            <a:ext cx="3567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g3e48cda529c_0_327"/>
          <p:cNvCxnSpPr/>
          <p:nvPr/>
        </p:nvCxnSpPr>
        <p:spPr>
          <a:xfrm>
            <a:off x="3044790" y="2046980"/>
            <a:ext cx="3567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g3e48cda529c_0_327"/>
          <p:cNvCxnSpPr/>
          <p:nvPr/>
        </p:nvCxnSpPr>
        <p:spPr>
          <a:xfrm>
            <a:off x="4430160" y="2046980"/>
            <a:ext cx="3567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g3e48cda529c_0_327"/>
          <p:cNvCxnSpPr/>
          <p:nvPr/>
        </p:nvCxnSpPr>
        <p:spPr>
          <a:xfrm>
            <a:off x="5815530" y="2046980"/>
            <a:ext cx="3567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g3e48cda529c_0_327"/>
          <p:cNvCxnSpPr/>
          <p:nvPr/>
        </p:nvCxnSpPr>
        <p:spPr>
          <a:xfrm>
            <a:off x="7200900" y="2046980"/>
            <a:ext cx="356400" cy="300"/>
          </a:xfrm>
          <a:prstGeom prst="straightConnector1">
            <a:avLst/>
          </a:prstGeom>
          <a:noFill/>
          <a:ln cap="flat" cmpd="sng" w="25400">
            <a:solidFill>
              <a:srgbClr val="B7C5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4" name="Google Shape;354;g3e48cda529c_0_327"/>
          <p:cNvSpPr/>
          <p:nvPr/>
        </p:nvSpPr>
        <p:spPr>
          <a:xfrm>
            <a:off x="37719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48cda529c_0_327"/>
          <p:cNvSpPr/>
          <p:nvPr/>
        </p:nvSpPr>
        <p:spPr>
          <a:xfrm>
            <a:off x="44577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48cda529c_0_327"/>
          <p:cNvSpPr/>
          <p:nvPr/>
        </p:nvSpPr>
        <p:spPr>
          <a:xfrm>
            <a:off x="45954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API / SPARQL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catálogos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e48cda529c_0_327"/>
          <p:cNvSpPr/>
          <p:nvPr/>
        </p:nvSpPr>
        <p:spPr>
          <a:xfrm>
            <a:off x="176256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e48cda529c_0_327"/>
          <p:cNvSpPr/>
          <p:nvPr/>
        </p:nvSpPr>
        <p:spPr>
          <a:xfrm>
            <a:off x="183114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Ingesta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e48cda529c_0_327"/>
          <p:cNvSpPr/>
          <p:nvPr/>
        </p:nvSpPr>
        <p:spPr>
          <a:xfrm>
            <a:off x="184491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Python 3.11+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normalización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e48cda529c_0_327"/>
          <p:cNvSpPr/>
          <p:nvPr/>
        </p:nvSpPr>
        <p:spPr>
          <a:xfrm>
            <a:off x="314793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48cda529c_0_327"/>
          <p:cNvSpPr/>
          <p:nvPr/>
        </p:nvSpPr>
        <p:spPr>
          <a:xfrm>
            <a:off x="321651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Almacén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e48cda529c_0_327"/>
          <p:cNvSpPr/>
          <p:nvPr/>
        </p:nvSpPr>
        <p:spPr>
          <a:xfrm>
            <a:off x="323001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PostgreSQL 15+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metadatos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e48cda529c_0_327"/>
          <p:cNvSpPr/>
          <p:nvPr/>
        </p:nvSpPr>
        <p:spPr>
          <a:xfrm>
            <a:off x="453303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e48cda529c_0_327"/>
          <p:cNvSpPr/>
          <p:nvPr/>
        </p:nvSpPr>
        <p:spPr>
          <a:xfrm>
            <a:off x="460161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e48cda529c_0_327"/>
          <p:cNvSpPr/>
          <p:nvPr/>
        </p:nvSpPr>
        <p:spPr>
          <a:xfrm>
            <a:off x="461538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pgvector 0.5+ / FAISS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modelo multilingüe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e48cda529c_0_327"/>
          <p:cNvSpPr/>
          <p:nvPr/>
        </p:nvSpPr>
        <p:spPr>
          <a:xfrm>
            <a:off x="591840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48cda529c_0_327"/>
          <p:cNvSpPr/>
          <p:nvPr/>
        </p:nvSpPr>
        <p:spPr>
          <a:xfrm>
            <a:off x="598698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Búsqueda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48cda529c_0_327"/>
          <p:cNvSpPr/>
          <p:nvPr/>
        </p:nvSpPr>
        <p:spPr>
          <a:xfrm>
            <a:off x="600075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híbrida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ranking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48cda529c_0_327"/>
          <p:cNvSpPr/>
          <p:nvPr/>
        </p:nvSpPr>
        <p:spPr>
          <a:xfrm>
            <a:off x="7303770" y="1635500"/>
            <a:ext cx="1268400" cy="959700"/>
          </a:xfrm>
          <a:prstGeom prst="roundRect">
            <a:avLst>
              <a:gd fmla="val 7619" name="adj"/>
            </a:avLst>
          </a:prstGeom>
          <a:solidFill>
            <a:srgbClr val="EAF6E5"/>
          </a:solidFill>
          <a:ln cap="flat" cmpd="sng" w="12700">
            <a:solidFill>
              <a:srgbClr val="C9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48cda529c_0_327"/>
          <p:cNvSpPr/>
          <p:nvPr/>
        </p:nvSpPr>
        <p:spPr>
          <a:xfrm>
            <a:off x="7372350" y="1781660"/>
            <a:ext cx="1131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e48cda529c_0_327"/>
          <p:cNvSpPr/>
          <p:nvPr/>
        </p:nvSpPr>
        <p:spPr>
          <a:xfrm>
            <a:off x="7386120" y="2074340"/>
            <a:ext cx="1097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respuesta trazable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9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no inventar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48cda529c_0_327"/>
          <p:cNvSpPr/>
          <p:nvPr/>
        </p:nvSpPr>
        <p:spPr>
          <a:xfrm>
            <a:off x="452630" y="2852235"/>
            <a:ext cx="192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Principios de diseño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e48cda529c_0_327"/>
          <p:cNvSpPr/>
          <p:nvPr/>
        </p:nvSpPr>
        <p:spPr>
          <a:xfrm>
            <a:off x="377200" y="3400538"/>
            <a:ext cx="31728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Arquitectura modular por conectores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Docker para ejecución local o servidor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API REST para desacoplar interfaz y motor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Trazabilidad: cada recomendación enlaza al dataset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Independencia de proveedor LLM siempre que sea posible.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74" name="Google Shape;374;g3e48cda529c_0_327"/>
          <p:cNvSpPr/>
          <p:nvPr/>
        </p:nvSpPr>
        <p:spPr>
          <a:xfrm>
            <a:off x="5026860" y="5193720"/>
            <a:ext cx="24963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5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Desplegable · reutilizable · integrable</a:t>
            </a:r>
            <a:endParaRPr b="0" sz="9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3e48cda529c_0_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76" name="Google Shape;376;g3e48cda529c_0_327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00A2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RECURSOS CLAVE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7" name="Google Shape;377;g3e48cda529c_0_327"/>
          <p:cNvSpPr txBox="1"/>
          <p:nvPr/>
        </p:nvSpPr>
        <p:spPr>
          <a:xfrm>
            <a:off x="-3204600" y="2935050"/>
            <a:ext cx="29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  <p:pic>
        <p:nvPicPr>
          <p:cNvPr id="378" name="Google Shape;378;g3e48cda529c_0_3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6300" y="2784482"/>
            <a:ext cx="4176550" cy="380059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e48cda529c_0_327"/>
          <p:cNvSpPr txBox="1"/>
          <p:nvPr/>
        </p:nvSpPr>
        <p:spPr>
          <a:xfrm>
            <a:off x="287425" y="4712525"/>
            <a:ext cx="384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4GB RAM mínimo · 10 GB disco (incluye los embeddings)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(Opcional) Clave o servidor para un LLM — por defecto usaremos deepseek-v4-flash:cloud o un modelo local vía Ollama</a:t>
            </a:r>
            <a:endParaRPr sz="1200"/>
          </a:p>
        </p:txBody>
      </p:sp>
      <p:sp>
        <p:nvSpPr>
          <p:cNvPr id="380" name="Google Shape;380;g3e48cda529c_0_327"/>
          <p:cNvSpPr/>
          <p:nvPr/>
        </p:nvSpPr>
        <p:spPr>
          <a:xfrm>
            <a:off x="348825" y="3262377"/>
            <a:ext cx="3380400" cy="37200"/>
          </a:xfrm>
          <a:prstGeom prst="rect">
            <a:avLst/>
          </a:prstGeom>
          <a:solidFill>
            <a:srgbClr val="00A24D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E36C09"/>
          </a:solidFill>
          <a:ln cap="flat" cmpd="sng" w="9525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COSTES DE IMPLEMENTACIÓN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47200" y="1540350"/>
            <a:ext cx="7449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Tiempo del equipo: principal coste. Estimado 6 personas × ~150h = ~900h totales distribuidas en 14-16 semanas.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Infraestructura cloud: VPS opcional para demo pública (5-20 €/mes) o créditos educativos.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Tokens de API LLM/Embeddings: si se usa proveedor externo, coste proporcional al volumen de desarrollo. Mitigación: usar modelos locales (Ollama, HuggingFace).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Software y herramientas: open source (Python, PostgreSQL, pgvector, Docker, Streamlit/Next.js) — coste cero.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Formación/documentación: horas dedicadas a leer CKAN, DCAT, APIs, modelos de embeddings.</a:t>
            </a:r>
            <a:endParaRPr sz="1600"/>
          </a:p>
        </p:txBody>
      </p:sp>
      <p:sp>
        <p:nvSpPr>
          <p:cNvPr id="387" name="Google Shape;387;p11"/>
          <p:cNvSpPr/>
          <p:nvPr/>
        </p:nvSpPr>
        <p:spPr>
          <a:xfrm>
            <a:off x="792300" y="1646650"/>
            <a:ext cx="54900" cy="38271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E36C09"/>
          </a:solidFill>
          <a:ln cap="flat" cmpd="sng" w="9525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RIESGOS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911100" y="1606775"/>
            <a:ext cx="82329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Metadatos de datos.gob.es de baja calidad o incompletos → Mitigación: enriquecimiento con descripciones LLM; normalización robusta.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Modelo de embeddings no captura bien terminología administrativa española → Mitigación: fallback a ranking léxico (BM25); ajuste de prompting.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Alucinaciones del LLM inventando datasets o coberturas → Mitigación: solo recomendar datasets indexados; trazabilidad obligatoria; auditoría manual del benchmark.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Complejidad técnica superior al tiempo disponible → Mitigación: MVP acotado en Gate 2; conectores desacoplados.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Descompensación de carga en el equipo → Mitigación: daily standups; matriz de responsabilidades clara; reasignación ágil entre sprints.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Usuarios piloto no disponibles → Mitigación: recurrir a compañeros de máster, profesores, contactos de entrevistas de Fase 1</a:t>
            </a:r>
            <a:endParaRPr sz="1500"/>
          </a:p>
        </p:txBody>
      </p:sp>
      <p:sp>
        <p:nvSpPr>
          <p:cNvPr id="395" name="Google Shape;395;p12"/>
          <p:cNvSpPr/>
          <p:nvPr/>
        </p:nvSpPr>
        <p:spPr>
          <a:xfrm>
            <a:off x="783325" y="1748075"/>
            <a:ext cx="54900" cy="38271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"/>
          <p:cNvSpPr/>
          <p:nvPr/>
        </p:nvSpPr>
        <p:spPr>
          <a:xfrm>
            <a:off x="0" y="0"/>
            <a:ext cx="9144000" cy="581002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E36C09"/>
          </a:solidFill>
          <a:ln cap="flat" cmpd="sng" w="9525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BENEFICIOS/IMPACTOS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864325" y="1256675"/>
            <a:ext cx="7368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Para el usuario final: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Ahorro de tiempo: reducir exploración manual de 30-60 min a &lt; 5 min para consultas complejas.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Mayor confianza: saber por qué un dataset es relevante y cuáles son sus límites antes de descargarlo.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Descubrimiento: encontrar datasets útiles que no aparecerían con búsqueda literal de keywords.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Para el equipo y el máster: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Aprendizaje integral: ingeniería de datos, NLP, bases vectoriales, API, visualización, evaluación, gestión de proyecto.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Demo real y medible: consultas reales, métricas objetivas, comparativa frente al estado actual.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Trabajo colaborativo con 6 roles claros y contribuciones equilibradas.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Para el ecosistema de datos abiertos: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Transferencia potencial: módulo reutilizable (Docker, API REST, conectores desacoplados) para datos.gob.es u otros catálogos CKAN.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Dashboard de calidad: expone lagunas del catálogo, incentivando mejoras en metadatos.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• Replicabilidad: metodología de benchmark aplicable a otros portales europeos.</a:t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797900" y="1396750"/>
            <a:ext cx="40200" cy="41784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48cda529c_0_456"/>
          <p:cNvSpPr/>
          <p:nvPr/>
        </p:nvSpPr>
        <p:spPr>
          <a:xfrm>
            <a:off x="0" y="0"/>
            <a:ext cx="9143400" cy="164100"/>
          </a:xfrm>
          <a:prstGeom prst="rect">
            <a:avLst/>
          </a:prstGeom>
          <a:solidFill>
            <a:srgbClr val="8CC63F"/>
          </a:solidFill>
          <a:ln cap="flat" cmpd="sng" w="12700">
            <a:solidFill>
              <a:srgbClr val="8C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e48cda529c_0_456"/>
          <p:cNvSpPr/>
          <p:nvPr/>
        </p:nvSpPr>
        <p:spPr>
          <a:xfrm>
            <a:off x="377190" y="6510600"/>
            <a:ext cx="56232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750" u="none" strike="noStrike">
                <a:solidFill>
                  <a:srgbClr val="7A8794"/>
                </a:solidFill>
                <a:latin typeface="Arial"/>
                <a:ea typeface="Arial"/>
                <a:cs typeface="Arial"/>
                <a:sym typeface="Arial"/>
              </a:rPr>
              <a:t>Propuesta TFM · Buscador semántico de datasets públicos</a:t>
            </a:r>
            <a:endParaRPr b="0" sz="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48cda529c_0_456"/>
          <p:cNvSpPr/>
          <p:nvPr/>
        </p:nvSpPr>
        <p:spPr>
          <a:xfrm>
            <a:off x="8469630" y="6446520"/>
            <a:ext cx="308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e48cda529c_0_456"/>
          <p:cNvSpPr/>
          <p:nvPr/>
        </p:nvSpPr>
        <p:spPr>
          <a:xfrm>
            <a:off x="445770" y="1005840"/>
            <a:ext cx="8229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 u="none" strike="noStrike">
                <a:solidFill>
                  <a:schemeClr val="dk1"/>
                </a:solidFill>
              </a:rPr>
              <a:t>Nuestra propuesta combina valor real, datos públicos, profundidad técnica y posibilidad de transferencia.</a:t>
            </a:r>
            <a:endParaRPr b="1" sz="1800" u="none" strike="noStrike">
              <a:solidFill>
                <a:srgbClr val="000000"/>
              </a:solidFill>
            </a:endParaRPr>
          </a:p>
        </p:txBody>
      </p:sp>
      <p:sp>
        <p:nvSpPr>
          <p:cNvPr id="414" name="Google Shape;414;g3e48cda529c_0_456"/>
          <p:cNvSpPr/>
          <p:nvPr/>
        </p:nvSpPr>
        <p:spPr>
          <a:xfrm>
            <a:off x="514350" y="1828800"/>
            <a:ext cx="2537100" cy="1828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e48cda529c_0_456"/>
          <p:cNvSpPr/>
          <p:nvPr/>
        </p:nvSpPr>
        <p:spPr>
          <a:xfrm>
            <a:off x="514350" y="1828800"/>
            <a:ext cx="54600" cy="1828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e48cda529c_0_456"/>
          <p:cNvSpPr/>
          <p:nvPr/>
        </p:nvSpPr>
        <p:spPr>
          <a:xfrm>
            <a:off x="665280" y="1993320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1. Problema claro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e48cda529c_0_456"/>
          <p:cNvSpPr/>
          <p:nvPr/>
        </p:nvSpPr>
        <p:spPr>
          <a:xfrm>
            <a:off x="665280" y="2359080"/>
            <a:ext cx="22491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datasets útiles para estudios complejos es lento, manual y dependiente de saber cómo está descrito cada catálogo.</a:t>
            </a:r>
            <a:endParaRPr b="0" sz="12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e48cda529c_0_456"/>
          <p:cNvSpPr/>
          <p:nvPr/>
        </p:nvSpPr>
        <p:spPr>
          <a:xfrm>
            <a:off x="3305610" y="1828800"/>
            <a:ext cx="2537100" cy="1828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e48cda529c_0_456"/>
          <p:cNvSpPr/>
          <p:nvPr/>
        </p:nvSpPr>
        <p:spPr>
          <a:xfrm>
            <a:off x="3456540" y="1993320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2. Datos accesibles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e48cda529c_0_456"/>
          <p:cNvSpPr/>
          <p:nvPr/>
        </p:nvSpPr>
        <p:spPr>
          <a:xfrm>
            <a:off x="3456540" y="2359080"/>
            <a:ext cx="22491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u="none" strike="noStrike">
                <a:solidFill>
                  <a:schemeClr val="dk1"/>
                </a:solidFill>
              </a:rPr>
              <a:t>Se trabaja con metadatos públicos, por lo que no dependemos de una empresa ni de datos sensibles para el MVP.</a:t>
            </a:r>
            <a:endParaRPr sz="1250" u="none" strike="noStrike">
              <a:solidFill>
                <a:schemeClr val="dk1"/>
              </a:solidFill>
            </a:endParaRPr>
          </a:p>
        </p:txBody>
      </p:sp>
      <p:sp>
        <p:nvSpPr>
          <p:cNvPr id="421" name="Google Shape;421;g3e48cda529c_0_456"/>
          <p:cNvSpPr/>
          <p:nvPr/>
        </p:nvSpPr>
        <p:spPr>
          <a:xfrm>
            <a:off x="6103620" y="1828800"/>
            <a:ext cx="2537100" cy="1828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48cda529c_0_456"/>
          <p:cNvSpPr/>
          <p:nvPr/>
        </p:nvSpPr>
        <p:spPr>
          <a:xfrm>
            <a:off x="6254550" y="1993320"/>
            <a:ext cx="2262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3. Prototipo demostrable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e48cda529c_0_456"/>
          <p:cNvSpPr/>
          <p:nvPr/>
        </p:nvSpPr>
        <p:spPr>
          <a:xfrm>
            <a:off x="6254550" y="2359080"/>
            <a:ext cx="22491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demo puede mostrar consultas reales, ranking, explicación, enlaces y comparación frente a búsqueda tradicional.</a:t>
            </a:r>
            <a:endParaRPr b="0" sz="125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e48cda529c_0_456"/>
          <p:cNvSpPr/>
          <p:nvPr/>
        </p:nvSpPr>
        <p:spPr>
          <a:xfrm>
            <a:off x="1474470" y="4251960"/>
            <a:ext cx="2880000" cy="14169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e48cda529c_0_456"/>
          <p:cNvSpPr/>
          <p:nvPr/>
        </p:nvSpPr>
        <p:spPr>
          <a:xfrm>
            <a:off x="1625400" y="4416480"/>
            <a:ext cx="2605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4. Transferible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e48cda529c_0_456"/>
          <p:cNvSpPr/>
          <p:nvPr/>
        </p:nvSpPr>
        <p:spPr>
          <a:xfrm>
            <a:off x="1625400" y="4782240"/>
            <a:ext cx="259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>
                <a:solidFill>
                  <a:schemeClr val="dk1"/>
                </a:solidFill>
              </a:rPr>
              <a:t>Diseñado como componente reutilizable: instancia propia, Docker, API y posible propuesta al ecosistema datos.gob.es.</a:t>
            </a:r>
            <a:endParaRPr b="0" sz="153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e48cda529c_0_456"/>
          <p:cNvSpPr/>
          <p:nvPr/>
        </p:nvSpPr>
        <p:spPr>
          <a:xfrm>
            <a:off x="4766310" y="4251960"/>
            <a:ext cx="2880000" cy="14169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e48cda529c_0_456"/>
          <p:cNvSpPr/>
          <p:nvPr/>
        </p:nvSpPr>
        <p:spPr>
          <a:xfrm>
            <a:off x="4917240" y="4416480"/>
            <a:ext cx="2605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 u="none" strike="noStrike">
                <a:solidFill>
                  <a:srgbClr val="163A5F"/>
                </a:solidFill>
                <a:latin typeface="Arial"/>
                <a:ea typeface="Arial"/>
                <a:cs typeface="Arial"/>
                <a:sym typeface="Arial"/>
              </a:rPr>
              <a:t>5. Buen encaje máster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e48cda529c_0_456"/>
          <p:cNvSpPr/>
          <p:nvPr/>
        </p:nvSpPr>
        <p:spPr>
          <a:xfrm>
            <a:off x="4855840" y="4782240"/>
            <a:ext cx="259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0" lIns="350" spcFirstLastPara="1" rIns="350" wrap="square" tIns="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25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 ingeniería de datos, NLP, bases vectoriales, visualización, evaluación y gestión de proyecto</a:t>
            </a:r>
            <a:r>
              <a:rPr b="0" lang="es-ES" sz="1250" u="none" strike="noStrike">
                <a:solidFill>
                  <a:srgbClr val="54616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e48cda529c_0_456"/>
          <p:cNvSpPr/>
          <p:nvPr/>
        </p:nvSpPr>
        <p:spPr>
          <a:xfrm>
            <a:off x="0" y="0"/>
            <a:ext cx="9143557" cy="580930"/>
          </a:xfrm>
          <a:custGeom>
            <a:rect b="b" l="l" r="r" t="t"/>
            <a:pathLst>
              <a:path extrusionOk="0" h="679450" w="10075545">
                <a:moveTo>
                  <a:pt x="10075341" y="679117"/>
                </a:moveTo>
                <a:lnTo>
                  <a:pt x="10075341" y="0"/>
                </a:lnTo>
                <a:lnTo>
                  <a:pt x="0" y="0"/>
                </a:lnTo>
                <a:lnTo>
                  <a:pt x="0" y="679117"/>
                </a:lnTo>
                <a:lnTo>
                  <a:pt x="10075341" y="679117"/>
                </a:lnTo>
                <a:close/>
              </a:path>
            </a:pathLst>
          </a:custGeom>
          <a:solidFill>
            <a:srgbClr val="E36C09"/>
          </a:solidFill>
          <a:ln cap="flat" cmpd="sng" w="9525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BENEFICIOS/IMPACTOS</a:t>
            </a:r>
            <a:endParaRPr b="1" i="0" sz="20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1" name="Google Shape;431;g3e48cda529c_0_456"/>
          <p:cNvSpPr/>
          <p:nvPr/>
        </p:nvSpPr>
        <p:spPr>
          <a:xfrm>
            <a:off x="3308988" y="1828800"/>
            <a:ext cx="54600" cy="1828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e48cda529c_0_456"/>
          <p:cNvSpPr/>
          <p:nvPr/>
        </p:nvSpPr>
        <p:spPr>
          <a:xfrm>
            <a:off x="6124550" y="1828800"/>
            <a:ext cx="54600" cy="1828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e48cda529c_0_456"/>
          <p:cNvSpPr/>
          <p:nvPr/>
        </p:nvSpPr>
        <p:spPr>
          <a:xfrm>
            <a:off x="1474475" y="4233550"/>
            <a:ext cx="54600" cy="1416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e48cda529c_0_456"/>
          <p:cNvSpPr/>
          <p:nvPr/>
        </p:nvSpPr>
        <p:spPr>
          <a:xfrm>
            <a:off x="4766300" y="4251950"/>
            <a:ext cx="54600" cy="1416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g3e48cda529c_0_4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688" y="5861750"/>
            <a:ext cx="996275" cy="99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2013-01-12T10:44:20Z</dcterms:created>
  <dc:creator>Valvanera</dc:creator>
</cp:coreProperties>
</file>